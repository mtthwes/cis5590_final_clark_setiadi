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75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latin typeface="FUTURA MEDIUM" panose="020B0602020204020303" pitchFamily="34" charset="-79"/>
                <a:ea typeface="Georgia" pitchFamily="34" charset="-122"/>
                <a:cs typeface="FUTURA MEDIUM" panose="020B0602020204020303" pitchFamily="34" charset="-79"/>
              </a:rPr>
              <a:t>Explainable Medical Diagnosis</a:t>
            </a:r>
            <a:endParaRPr lang="en-US" sz="3400" b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latin typeface="FUTURA MEDIUM" panose="020B0602020204020303" pitchFamily="34" charset="-79"/>
                <a:ea typeface="Georgia" pitchFamily="34" charset="-122"/>
                <a:cs typeface="FUTURA MEDIUM" panose="020B0602020204020303" pitchFamily="34" charset="-79"/>
              </a:rPr>
              <a:t>Recommender using NARS</a:t>
            </a:r>
            <a:endParaRPr lang="en-US" sz="3400" b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Matthew Setiadi  &amp;  Justin Clark</a:t>
            </a:r>
            <a:endParaRPr lang="en-US" sz="18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venir Next" panose="020B0503020202020204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Medical diagnosis operates with incomplete and conflicting information.</a:t>
            </a:r>
            <a:endParaRPr lang="en-US" sz="1600" dirty="0">
              <a:latin typeface="Avenir Next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Overlapping Symptoms</a:t>
            </a: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Fever appears in flu, pneumonia, cold, and bronchitis</a:t>
            </a: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Contradictory Evidence</a:t>
            </a: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Symptoms may point to multiple diseases at once</a:t>
            </a: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Evolving Information</a:t>
            </a:r>
            <a:endParaRPr lang="en-US" sz="15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New test results change the picture over time</a:t>
            </a:r>
            <a:endParaRPr lang="en-US" sz="1500" dirty="0">
              <a:latin typeface="Avenir Next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NARS is designed for exactly this: reasoning under insufficient knowledge and resources (AIKR).</a:t>
            </a:r>
            <a:endParaRPr lang="en-US" sz="140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venir Next" panose="020B0503020202020204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Knowledge Representation in Narsese</a:t>
            </a:r>
            <a:endParaRPr lang="en-US" sz="1500" dirty="0">
              <a:latin typeface="Avenir Next" panose="020B05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Avenir Next" panose="020B0503020202020204" pitchFamily="34" charset="0"/>
                <a:ea typeface="Consolas" pitchFamily="34" charset="-122"/>
                <a:cs typeface="Consolas" pitchFamily="34" charset="-120"/>
              </a:rPr>
              <a:t>&lt;fever --&gt; flu_symptom&gt;. %0.75;0.85%</a:t>
            </a:r>
            <a:endParaRPr lang="en-US" sz="1100" dirty="0">
              <a:latin typeface="Avenir Next" panose="020B0503020202020204" pitchFamily="34" charset="0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Avenir Next" panose="020B0503020202020204" pitchFamily="34" charset="0"/>
                <a:ea typeface="Consolas" pitchFamily="34" charset="-122"/>
                <a:cs typeface="Consolas" pitchFamily="34" charset="-120"/>
              </a:rPr>
              <a:t>&lt;cough --&gt; flu_symptom&gt;. %0.75;0.85%</a:t>
            </a:r>
            <a:endParaRPr lang="en-US" sz="1100" dirty="0">
              <a:latin typeface="Avenir Next" panose="020B0503020202020204" pitchFamily="34" charset="0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Avenir Next" panose="020B0503020202020204" pitchFamily="34" charset="0"/>
                <a:ea typeface="Consolas" pitchFamily="34" charset="-122"/>
                <a:cs typeface="Consolas" pitchFamily="34" charset="-120"/>
              </a:rPr>
              <a:t>&lt;fever --&gt; pneumonia_symptom&gt;. %0.88;0.85%</a:t>
            </a:r>
            <a:endParaRPr lang="en-US" sz="1100" dirty="0">
              <a:latin typeface="Avenir Next" panose="020B0503020202020204" pitchFamily="34" charset="0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Avenir Next" panose="020B0503020202020204" pitchFamily="34" charset="0"/>
                <a:ea typeface="Consolas" pitchFamily="34" charset="-122"/>
                <a:cs typeface="Consolas" pitchFamily="34" charset="-120"/>
              </a:rPr>
              <a:t>&lt;breathing_diff --&gt; pneumonia_symptom&gt;. %1.0;0.85%</a:t>
            </a:r>
            <a:endParaRPr lang="en-US" sz="1100" dirty="0">
              <a:latin typeface="Avenir Next" panose="020B0503020202020204" pitchFamily="34" charset="0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Avenir Next" panose="020B0503020202020204" pitchFamily="34" charset="0"/>
                <a:ea typeface="Consolas" pitchFamily="34" charset="-122"/>
                <a:cs typeface="Consolas" pitchFamily="34" charset="-120"/>
              </a:rPr>
              <a:t>&lt;fever --&gt; cold_symptom&gt;. %0.67;0.85%</a:t>
            </a:r>
            <a:endParaRPr lang="en-US" sz="1100" dirty="0">
              <a:latin typeface="Avenir Next" panose="020B05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Truth-Values</a:t>
            </a:r>
            <a:endParaRPr lang="en-US" sz="1500" dirty="0">
              <a:latin typeface="Avenir Next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>
              <a:latin typeface="Avenir Next" panose="020B0503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How often this symptom appears with this disease (from data)</a:t>
            </a:r>
            <a:endParaRPr lang="en-US" sz="1300" dirty="0">
              <a:latin typeface="Avenir Next" panose="020B0503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300" dirty="0">
              <a:latin typeface="Avenir Next" panose="020B0503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>
              <a:latin typeface="Avenir Next" panose="020B0503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How much evidence we have (increases with more data and revision)</a:t>
            </a:r>
            <a:endParaRPr lang="en-US" sz="1300" dirty="0">
              <a:latin typeface="Avenir Next" panose="020B05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Frequencies computed directly from Kaggle Disease Symptoms dataset (348 records, 4 target diseases).</a:t>
            </a:r>
            <a:endParaRPr lang="en-US" sz="110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venir Next" panose="020B0503020202020204" pitchFamily="34" charset="0"/>
                <a:ea typeface="Georgia" pitchFamily="34" charset="-122"/>
                <a:cs typeface="Georgia" pitchFamily="34" charset="-120"/>
              </a:rPr>
              <a:t>Belief Revision Experiment</a:t>
            </a:r>
            <a:endParaRPr lang="en-US" sz="32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Patient symptoms arrive one at a time. Diagnosis confidence updates after each.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365519"/>
              </p:ext>
            </p:extLst>
          </p:nvPr>
        </p:nvGraphicFramePr>
        <p:xfrm>
          <a:off x="822960" y="1520190"/>
          <a:ext cx="7498080" cy="2103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Step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New Evidence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Flu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Cold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Pneumonia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Bronchitis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Patient reports fever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0.64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0.57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0.74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0.64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 cough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0.57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 fatigue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0.75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0.65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 difficulty breathing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0.75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0.36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Negative flu test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0.45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0.65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Confidence shifts as evidence accumulates. Contradictory test deprioritizes flu.</a:t>
            </a:r>
            <a:endParaRPr lang="en-US" sz="1300" dirty="0">
              <a:latin typeface="Avenir Next" panose="020B0503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Values shown are expectation: e = c(f - 0.5) + 0.5</a:t>
            </a:r>
            <a:endParaRPr lang="en-US" sz="110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venir Next" panose="020B0503020202020204" pitchFamily="34" charset="0"/>
                <a:ea typeface="Georgia" pitchFamily="34" charset="-122"/>
                <a:cs typeface="Georgia" pitchFamily="34" charset="-120"/>
              </a:rPr>
              <a:t>Explainable Output</a:t>
            </a:r>
            <a:endParaRPr lang="en-US" sz="32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The system generates a plain-English explanation for the top diagnosis: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  <a:latin typeface="Avenir Next" panose="020B0503020202020204" pitchFamily="34" charset="0"/>
                <a:ea typeface="Georgia" pitchFamily="34" charset="-122"/>
                <a:cs typeface="Georgia" pitchFamily="34" charset="-120"/>
              </a:rPr>
              <a:t>Diagnosis: Pneumonia</a:t>
            </a:r>
            <a:endParaRPr lang="en-US" sz="1800" dirty="0">
              <a:latin typeface="Avenir Next" panose="020B05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7415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Pneumonia is suggested because:</a:t>
            </a:r>
            <a:endParaRPr lang="en-US" sz="14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  •  breathing difficulty is a strong indicator (freq=1.00, conf=0.85)</a:t>
            </a:r>
            <a:endParaRPr lang="en-US" sz="14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  •  fever is a strong indicator (freq=0.88, conf=0.85)</a:t>
            </a:r>
            <a:endParaRPr lang="en-US" sz="14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  •  cough is a strong indicator (freq=0.88, conf=0.85)</a:t>
            </a:r>
            <a:endParaRPr lang="en-US" sz="1400" dirty="0">
              <a:latin typeface="Avenir Next" panose="020B0503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  •  fatigue is a strong indicator (freq=0.88, conf=0.85)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Explanation traces the inference chain back to the evidence that matters most.</a:t>
            </a:r>
            <a:endParaRPr lang="en-US" sz="130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Avenir Next" panose="020B0503020202020204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Deduction works</a:t>
            </a:r>
            <a:endParaRPr lang="en-US" sz="15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0" y="1188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Correctly derives patient-disease links from symptom-disease knowledge (c = 0.81 for single hop)</a:t>
            </a:r>
            <a:endParaRPr lang="en-US" sz="13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Revision builds confidence</a:t>
            </a:r>
            <a:endParaRPr lang="en-US" sz="15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74720" y="1920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Multiple evidence sources increase confidence beyond any single source</a:t>
            </a:r>
            <a:endParaRPr lang="en-US" sz="13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Weak inference is appropriate</a:t>
            </a:r>
            <a:endParaRPr lang="en-US" sz="15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0" y="2651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Abduction and induction produce low confidence (c &lt; 0.5), reflecting genuine uncertainty</a:t>
            </a:r>
            <a:endParaRPr lang="en-US" sz="13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Contradictory evidence handled</a:t>
            </a:r>
            <a:endParaRPr lang="en-US" sz="15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Negative test results reduce diagnosis confidence without erasing prior evidence</a:t>
            </a:r>
            <a:endParaRPr lang="en-US" sz="13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4114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Avenir Next" panose="020B0503020202020204" pitchFamily="34" charset="0"/>
                <a:ea typeface="Calibri" pitchFamily="34" charset="-122"/>
                <a:cs typeface="Calibri" pitchFamily="34" charset="-120"/>
              </a:rPr>
              <a:t>NAL-1 only (no compound terms), small dataset, no temporal reasoning</a:t>
            </a:r>
            <a:endParaRPr lang="en-US" sz="1300" dirty="0">
              <a:solidFill>
                <a:srgbClr val="002060"/>
              </a:solidFill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442</Words>
  <Application>Microsoft Macintosh PowerPoint</Application>
  <PresentationFormat>On-screen Show (16:9)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</vt:lpstr>
      <vt:lpstr>Calibri</vt:lpstr>
      <vt:lpstr>FUTURA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Mini-NARS Medical Diagnosis</dc:title>
  <dc:subject>PptxGenJS Presentation</dc:subject>
  <dc:creator>Matthew Setiadi</dc:creator>
  <cp:lastModifiedBy>Matthew Ethan</cp:lastModifiedBy>
  <cp:revision>4</cp:revision>
  <dcterms:created xsi:type="dcterms:W3CDTF">2026-04-21T17:46:38Z</dcterms:created>
  <dcterms:modified xsi:type="dcterms:W3CDTF">2026-04-23T22:08:45Z</dcterms:modified>
</cp:coreProperties>
</file>